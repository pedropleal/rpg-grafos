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960120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T1 — MESSAGE 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64208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</a:rPr>
              <a:t>Resolução de Problemas com Grafos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983480"/>
            <a:ext cx="1014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Pedro Pinheiro Barros Leal  •  Emmanuel Rosendo Parente Dias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40680"/>
            <a:ext cx="10149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UNIFOR • Prof. Me. Ricardo Carubbi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8404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A4EF2"/>
                </a:solidFill>
                <a:latin typeface="Arial"/>
              </a:rPr>
              <a:t>1 —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36680"/>
                </a:solidFill>
                <a:latin typeface="Arial"/>
              </a:rPr>
              <a:t>CSES Message Route • encontrar uma rota mínima entre 1 e 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6720840" cy="4526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4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77e5150d-852d-4b43-820b-6cb647a9b1b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62070"/>
            <a:ext cx="6446520" cy="124475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52360" y="1325880"/>
            <a:ext cx="3977639" cy="4526280"/>
          </a:xfrm>
          <a:prstGeom prst="roundRect">
            <a:avLst/>
          </a:prstGeom>
          <a:solidFill>
            <a:srgbClr val="EBF4FC"/>
          </a:solidFill>
          <a:ln w="16510">
            <a:solidFill>
              <a:srgbClr val="0A4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664208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A4EF2"/>
                </a:solidFill>
                <a:latin typeface="Arial"/>
              </a:rPr>
              <a:t>Leitura do 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240280"/>
            <a:ext cx="324612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42758"/>
                </a:solidFill>
                <a:latin typeface="Arial"/>
              </a:rPr>
              <a:t>• Lê a primeira linha da entrada
• n = número de computadores
• m = número de conexões
• A rota parte de 1 e procura chegar em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709160"/>
            <a:ext cx="3246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36680"/>
                </a:solidFill>
                <a:latin typeface="Arial"/>
              </a:rPr>
              <a:t>O StringTokenizer separa os valores lidos na mesma linha.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8404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A4EF2"/>
                </a:solidFill>
                <a:latin typeface="Arial"/>
              </a:rPr>
              <a:t>2 — Modelagem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36680"/>
                </a:solidFill>
                <a:latin typeface="Arial"/>
              </a:rPr>
              <a:t>Transformando a rede de computadores em um grafo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6720840" cy="4526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4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9f46ac6-d94e-4372-ab09-3ac7414efd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983932"/>
            <a:ext cx="6446520" cy="32010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52360" y="1325880"/>
            <a:ext cx="3977639" cy="4526280"/>
          </a:xfrm>
          <a:prstGeom prst="roundRect">
            <a:avLst/>
          </a:prstGeom>
          <a:solidFill>
            <a:srgbClr val="EBF4FC"/>
          </a:solidFill>
          <a:ln w="16510">
            <a:solidFill>
              <a:srgbClr val="0A4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664208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A4EF2"/>
                </a:solidFill>
                <a:latin typeface="Arial"/>
              </a:rPr>
              <a:t>Modelagem das conexões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240280"/>
            <a:ext cx="324612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42758"/>
                </a:solidFill>
                <a:latin typeface="Arial"/>
              </a:rPr>
              <a:t>• O laço repete m vezes: uma vez por conexão
• a e b são os computadores conectados
• A conexão é inserida nos dois sentidos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709160"/>
            <a:ext cx="3246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36680"/>
                </a:solidFill>
                <a:latin typeface="Arial"/>
              </a:rPr>
              <a:t>graph[a].add(b) + graph[b].add(a) ⇒ grafo não direcionado.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8404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A4EF2"/>
                </a:solidFill>
                <a:latin typeface="Arial"/>
              </a:rPr>
              <a:t>3 — Representação computacional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36680"/>
                </a:solidFill>
                <a:latin typeface="Arial"/>
              </a:rPr>
              <a:t>Lista de adjacência • eficiente para percorrer apenas conexões existentes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6720840" cy="4526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4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e476388-d515-4907-bc34-3d32f34f70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561840"/>
            <a:ext cx="6446520" cy="204521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52360" y="1325880"/>
            <a:ext cx="3977639" cy="4526280"/>
          </a:xfrm>
          <a:prstGeom prst="roundRect">
            <a:avLst/>
          </a:prstGeom>
          <a:solidFill>
            <a:srgbClr val="EBF4FC"/>
          </a:solidFill>
          <a:ln w="16510">
            <a:solidFill>
              <a:srgbClr val="0A4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664208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A4EF2"/>
                </a:solidFill>
                <a:latin typeface="Arial"/>
              </a:rPr>
              <a:t>Representação computacional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240280"/>
            <a:ext cx="324612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42758"/>
                </a:solidFill>
                <a:latin typeface="Arial"/>
              </a:rPr>
              <a:t>• O grafo é armazenado por lista de adjacência
• Cada graph[i] guarda os vizinhos do vértice i
• n + 1 permite usar diretamente os índices 1 até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709160"/>
            <a:ext cx="3246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36680"/>
                </a:solidFill>
                <a:latin typeface="Arial"/>
              </a:rPr>
              <a:t>A posição 0 fica sem uso para manter a mesma numeração do problema.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8404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A4EF2"/>
                </a:solidFill>
                <a:latin typeface="Arial"/>
              </a:rPr>
              <a:t>4 — DFS / BFS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36680"/>
                </a:solidFill>
                <a:latin typeface="Arial"/>
              </a:rPr>
              <a:t>A BFS foi escolhida porque o grafo é não ponderado e precisamos do menor caminho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6720840" cy="4526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4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69210682-11f6-4aee-86d5-c0b46e10d0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4247" y="1481328"/>
            <a:ext cx="3558185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52360" y="1325880"/>
            <a:ext cx="3977639" cy="4526280"/>
          </a:xfrm>
          <a:prstGeom prst="roundRect">
            <a:avLst/>
          </a:prstGeom>
          <a:solidFill>
            <a:srgbClr val="EBF4FC"/>
          </a:solidFill>
          <a:ln w="16510">
            <a:solidFill>
              <a:srgbClr val="0A4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664208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A4EF2"/>
                </a:solidFill>
                <a:latin typeface="Arial"/>
              </a:rPr>
              <a:t>Busca em largura — BFS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240280"/>
            <a:ext cx="324612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42758"/>
                </a:solidFill>
                <a:latin typeface="Arial"/>
              </a:rPr>
              <a:t>• queue.poll() retira o próximo vértice
• marked evita visitar o mesmo vértice novamente
• edgeTo guarda o predecessor
• queue.add(w) coloca o vizinho na fila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709160"/>
            <a:ext cx="3246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36680"/>
                </a:solidFill>
                <a:latin typeface="Arial"/>
              </a:rPr>
              <a:t>A BFS percorre por níveis e garante menor caminho em grafo não ponderado.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8404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A4EF2"/>
                </a:solidFill>
                <a:latin typeface="Arial"/>
              </a:rPr>
              <a:t>5 — Validação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36680"/>
                </a:solidFill>
                <a:latin typeface="Arial"/>
              </a:rPr>
              <a:t>Testes, complexidade e submissão no CSES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6720840" cy="4526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4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5884d98-b493-4f83-bf04-df847f7e2f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9914" y="1481328"/>
            <a:ext cx="3606850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52360" y="1325880"/>
            <a:ext cx="3977639" cy="4526280"/>
          </a:xfrm>
          <a:prstGeom prst="roundRect">
            <a:avLst/>
          </a:prstGeom>
          <a:solidFill>
            <a:srgbClr val="EBF4FC"/>
          </a:solidFill>
          <a:ln w="16510">
            <a:solidFill>
              <a:srgbClr val="0A4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664208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A4EF2"/>
                </a:solidFill>
                <a:latin typeface="Arial"/>
              </a:rPr>
              <a:t>Reconstrução da resposta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240280"/>
            <a:ext cx="324612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42758"/>
                </a:solidFill>
                <a:latin typeface="Arial"/>
              </a:rPr>
              <a:t>• Se n não foi visitado: IMPOSSIBLE
• current começa no destino n
• edgeTo permite voltar pelos predecessores
• reverse coloca o caminho na ordem 1 →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709160"/>
            <a:ext cx="3246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36680"/>
                </a:solidFill>
                <a:latin typeface="Arial"/>
              </a:rPr>
              <a:t>Exemplo: 5 ← 4 ← 1  ⇒  reverse  ⇒  1 → 4 → 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8404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A4EF2"/>
                </a:solidFill>
                <a:latin typeface="Arial"/>
              </a:rPr>
              <a:t>6 — Validação no CSES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36680"/>
                </a:solidFill>
                <a:latin typeface="Arial"/>
              </a:rPr>
              <a:t>Resultado da submissão oficial do Main.java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7315200" cy="4526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4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318" y="1508760"/>
            <a:ext cx="6075283" cy="4069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83879" y="1280160"/>
            <a:ext cx="3246120" cy="4526280"/>
          </a:xfrm>
          <a:prstGeom prst="roundRect">
            <a:avLst/>
          </a:prstGeom>
          <a:solidFill>
            <a:srgbClr val="EBF4FC"/>
          </a:solidFill>
          <a:ln w="16510">
            <a:solidFill>
              <a:srgbClr val="0A4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691640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A4EF2"/>
                </a:solidFill>
                <a:latin typeface="Arial"/>
              </a:rPr>
              <a:t>Resultado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28600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98754"/>
                </a:solidFill>
                <a:latin typeface="Arial"/>
              </a:rPr>
              <a:t>✓ 12/12 testes
ACCEPTED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383280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4EF2"/>
                </a:solidFill>
                <a:latin typeface="Arial"/>
              </a:rPr>
              <a:t>Complexidade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794760"/>
            <a:ext cx="260604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42758"/>
                </a:solidFill>
                <a:latin typeface="Arial"/>
              </a:rPr>
              <a:t>Tempo
O(V + E) = O(n + m)
Espaço extra
O(V) = O(n)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5349240"/>
            <a:ext cx="2697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36680"/>
                </a:solidFill>
                <a:latin typeface="Arial"/>
              </a:rPr>
              <a:t>A submissão passou em todos os testes oficiais do problema Message Route.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