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791b04906f46d8" /><Relationship Type="http://schemas.openxmlformats.org/officeDocument/2006/relationships/extended-properties" Target="/docProps/app.xml" Id="R2c45681d7c4d4f37" /><Relationship Type="http://schemas.openxmlformats.org/officeDocument/2006/relationships/officeDocument" Target="/ppt/presentation.xml" Id="Rdc0e675ab4a9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6787ec50554b16"/>
  </p:sldMasterIdLst>
  <p:notesMasterIdLst>
    <p:notesMasterId xmlns:r="http://schemas.openxmlformats.org/officeDocument/2006/relationships" r:id="Re31d808a4e4e4b5b"/>
  </p:notesMasterIdLst>
  <p:sldIdLst>
    <p:sldId xmlns:r="http://schemas.openxmlformats.org/officeDocument/2006/relationships" id="256" r:id="R28969fcc6f2a4165"/>
    <p:sldId xmlns:r="http://schemas.openxmlformats.org/officeDocument/2006/relationships" id="257" r:id="Re5b9c30b2e2f4f7c"/>
    <p:sldId xmlns:r="http://schemas.openxmlformats.org/officeDocument/2006/relationships" id="258" r:id="R52996aec3e614139"/>
    <p:sldId xmlns:r="http://schemas.openxmlformats.org/officeDocument/2006/relationships" id="259" r:id="R33a11d4981ac4367"/>
    <p:sldId xmlns:r="http://schemas.openxmlformats.org/officeDocument/2006/relationships" id="260" r:id="R5143917f9fd64932"/>
    <p:sldId xmlns:r="http://schemas.openxmlformats.org/officeDocument/2006/relationships" id="261" r:id="R7fcec37b6dbc4fec"/>
    <p:sldId xmlns:r="http://schemas.openxmlformats.org/officeDocument/2006/relationships" id="262" r:id="R9d326047d8dd4f68"/>
    <p:sldId xmlns:r="http://schemas.openxmlformats.org/officeDocument/2006/relationships" id="263" r:id="R64a742a8d2614cc3"/>
    <p:sldId xmlns:r="http://schemas.openxmlformats.org/officeDocument/2006/relationships" id="264" r:id="Rc5d5e3931c964f55"/>
    <p:sldId xmlns:r="http://schemas.openxmlformats.org/officeDocument/2006/relationships" id="265" r:id="Rda9b1338e90244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b6fd6829447bc" /><Relationship Type="http://schemas.openxmlformats.org/officeDocument/2006/relationships/slideMaster" Target="/ppt/slideMasters/slideMaster1.xml" Id="R196787ec50554b16" /><Relationship Type="http://schemas.openxmlformats.org/officeDocument/2006/relationships/notesMaster" Target="/ppt/notesMasters/notesMaster1.xml" Id="Re31d808a4e4e4b5b" /><Relationship Type="http://schemas.openxmlformats.org/officeDocument/2006/relationships/presProps" Target="/ppt/presProps.xml" Id="R1a1bdaf4b8f24e5d" /><Relationship Type="http://schemas.openxmlformats.org/officeDocument/2006/relationships/tableStyles" Target="/ppt/tableStyles.xml" Id="R3eb570f6408e45e1" /><Relationship Type="http://schemas.openxmlformats.org/officeDocument/2006/relationships/slide" Target="/ppt/slides/slide1.xml" Id="R28969fcc6f2a4165" /><Relationship Type="http://schemas.openxmlformats.org/officeDocument/2006/relationships/slide" Target="/ppt/slides/slide2.xml" Id="Re5b9c30b2e2f4f7c" /><Relationship Type="http://schemas.openxmlformats.org/officeDocument/2006/relationships/slide" Target="/ppt/slides/slide3.xml" Id="R52996aec3e614139" /><Relationship Type="http://schemas.openxmlformats.org/officeDocument/2006/relationships/slide" Target="/ppt/slides/slide4.xml" Id="R33a11d4981ac4367" /><Relationship Type="http://schemas.openxmlformats.org/officeDocument/2006/relationships/slide" Target="/ppt/slides/slide5.xml" Id="R5143917f9fd64932" /><Relationship Type="http://schemas.openxmlformats.org/officeDocument/2006/relationships/slide" Target="/ppt/slides/slide6.xml" Id="R7fcec37b6dbc4fec" /><Relationship Type="http://schemas.openxmlformats.org/officeDocument/2006/relationships/slide" Target="/ppt/slides/slide7.xml" Id="R9d326047d8dd4f68" /><Relationship Type="http://schemas.openxmlformats.org/officeDocument/2006/relationships/slide" Target="/ppt/slides/slide8.xml" Id="R64a742a8d2614cc3" /><Relationship Type="http://schemas.openxmlformats.org/officeDocument/2006/relationships/slide" Target="/ppt/slides/slide9.xml" Id="Rc5d5e3931c964f55" /><Relationship Type="http://schemas.openxmlformats.org/officeDocument/2006/relationships/slide" Target="/ppt/slides/slide10.xml" Id="Rda9b1338e902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59e63ec5c2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f5a6dab0b4664" /><Relationship Type="http://schemas.openxmlformats.org/officeDocument/2006/relationships/notesMaster" Target="/ppt/notesMasters/notesMaster1.xml" Id="R18d04d5157a5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48a152a11462e" /><Relationship Type="http://schemas.openxmlformats.org/officeDocument/2006/relationships/notesMaster" Target="/ppt/notesMasters/notesMaster1.xml" Id="Rb42801a64a5a4a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6e2626f084c09" /><Relationship Type="http://schemas.openxmlformats.org/officeDocument/2006/relationships/notesMaster" Target="/ppt/notesMasters/notesMaster1.xml" Id="R511a4f3b549f4a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a14186399741a4" /><Relationship Type="http://schemas.openxmlformats.org/officeDocument/2006/relationships/notesMaster" Target="/ppt/notesMasters/notesMaster1.xml" Id="R03fa2f3d7946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add2a5e1dc4dce" /><Relationship Type="http://schemas.openxmlformats.org/officeDocument/2006/relationships/notesMaster" Target="/ppt/notesMasters/notesMaster1.xml" Id="R1b0f18c5e58d45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38391476e461d" /><Relationship Type="http://schemas.openxmlformats.org/officeDocument/2006/relationships/notesMaster" Target="/ppt/notesMasters/notesMaster1.xml" Id="Rcccc266fff4e4c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923fd974c74b2c" /><Relationship Type="http://schemas.openxmlformats.org/officeDocument/2006/relationships/notesMaster" Target="/ppt/notesMasters/notesMaster1.xml" Id="R99fa54048c2547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7b881e57d74b8d" /><Relationship Type="http://schemas.openxmlformats.org/officeDocument/2006/relationships/notesMaster" Target="/ppt/notesMasters/notesMaster1.xml" Id="R54b2a5579cc948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4132538a234b70" /><Relationship Type="http://schemas.openxmlformats.org/officeDocument/2006/relationships/notesMaster" Target="/ppt/notesMasters/notesMaster1.xml" Id="R0028e1ee640947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ce7137d75a4c34" /><Relationship Type="http://schemas.openxmlformats.org/officeDocument/2006/relationships/notesMaster" Target="/ppt/notesMasters/notesMaster1.xml" Id="Racde186aa4e1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T2, Marco 4. Integrantes conforme o T1. Problema: https://onlinejudge.org/external/7/796.pdf. A submissão ao juiz permanece pendente.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grafo preservado da conversa GRAFOS e Marcos 1–3. ω conta componentes. Remover (0,1) isola 0. Remover (1,3) separa {0,1} de {2,3,4}. A representação textual mantém exatamente as cinco arestas do exemplo.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A2: representação por adjacência. A3: DepthFirstPaths e vetores marked/edgeTo. A4: CC e laço sobre todos os vértices. https://algs4.cs.princeton.edu/41graph/Graph.java.html ; https://algs4.cs.princeton.edu/41graph/DepthFirstPaths.java.html ; https://algs4.cs.princeton.edu/41graph/CC.java.html . O código do T2 é uma adaptação conceitual, não uma cópia integral dessas 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T2/src/Main.java, BridgeFinder. O Marco 3 planejava recursão. A implementação final simula as chamadas e os retornos com stack e nextNeighbor. Essa alteração evita StackOverflowError em caminhos longos e mantém disc/low e o critério de ponte.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Main.java, BridgeFinder. Ao descobrir v, disc[v]=low[v]=time++. Uma aresta para vizinho marcado, diferente da aresta-pai, atualiza low[v] com disc[w]. Ao retornar de um filho, atualizar low[pai] com low[filho]. A desigualdade estrita caracteriza ponte. Não confundir com articulação, que tem outra condição e regra especial para a raiz.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Main.java e Marco 3. Com as listas do exemplo, a descoberta segue 0,1,3,2,4. A aresta 4–3 atualiza low[4]=2, que se propaga para 2. Os valores da tabela são os finais. A ordem dos vizinhos pode mudar os tempos, mas não o conjunto de pontes.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https://onlinejudge.org/external/7/796.pdf e Main.java. FastInput lê inteiros separados por espaços ou parênteses. Como a entrada é simétrica, u&lt;v evita adicionar duas vezes a mesma conexão. Graph adiciona ambos os sentidos e atribui uma identidade. A identidade também lida com ocorrências paralelas simétricas, embora o modelo didático seja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execução de T2/testes/validar.py em 07/10/2026, JDK 25.0.1 com --release 8. O oráculo de testes remove uma aresta por vez e compara a quantidade de componentes por busca independente. Ele não faz parte da solução submetida. Semente aleatória 796. Foram 1100 grafos simples rotulados de 0 a 5 vértices. Ver T2/testes/resultado-local.md.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análise de Main.java. V vértices, E arestas, B pontes. Cada entrada de adjacência é processada uma vez; nextNeighbor evita recomeçar a varredura no retorno. A ordenação padrão organiza a saída e não resolve o problema. Comandos executados a partir de T2; o redirecionamento mostrado vale em bash/cmd. Em PowerShell usar Get-Content dados/entrada.txt | java -cp build 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implementação encontra as pontes pelo critério de conectividade e pelos valores low. Fontes da disciplina: Ricardo Carubbi, A2_Tipos_Representação_Computacional_, A3_BFS_DFS, A4_Conectividade. Referências online: https://onlinejudge.org/external/7/796.pdf ; https://algs4.cs.princeton.edu/41graph/Graph.java.html ; https://algs4.cs.princeton.edu/41graph/DepthFirstPaths.java.html ; https://algs4.cs.princeton.edu/41graph/CC.java.html . Os integrantes devem revisar e explicar a adaptação. Não se afirma aprovação pelo professor ou pelo juiz.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a65e7d59749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d1e4dd47a14c46" /><Relationship Type="http://schemas.openxmlformats.org/officeDocument/2006/relationships/slideLayout" Target="/ppt/slideLayouts/slideLayout1.xml" Id="R3d5720abb1fd46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5720abb1fd46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faca29d2448f7" /><Relationship Type="http://schemas.openxmlformats.org/officeDocument/2006/relationships/notesSlide" Target="/ppt/notesSlides/notesSlide1.xml" Id="R7636123274ec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a99835a114f2b" /><Relationship Type="http://schemas.openxmlformats.org/officeDocument/2006/relationships/notesSlide" Target="/ppt/notesSlides/notesSlide2.xml" Id="R967b6d279ee44e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abdab880d460b" /><Relationship Type="http://schemas.openxmlformats.org/officeDocument/2006/relationships/notesSlide" Target="/ppt/notesSlides/notesSlide3.xml" Id="Rbc4c7f725c6746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39669e75f4779" /><Relationship Type="http://schemas.openxmlformats.org/officeDocument/2006/relationships/notesSlide" Target="/ppt/notesSlides/notesSlide4.xml" Id="R6a1b3cbf089343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9fbbf3f524a06" /><Relationship Type="http://schemas.openxmlformats.org/officeDocument/2006/relationships/notesSlide" Target="/ppt/notesSlides/notesSlide5.xml" Id="Rbb232559c98e45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d8ed0f4784f38" /><Relationship Type="http://schemas.openxmlformats.org/officeDocument/2006/relationships/notesSlide" Target="/ppt/notesSlides/notesSlide6.xml" Id="R907b0d2be3b744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0f92bbc6b40fb" /><Relationship Type="http://schemas.openxmlformats.org/officeDocument/2006/relationships/notesSlide" Target="/ppt/notesSlides/notesSlide7.xml" Id="R3545425073164d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b24ae46643e0" /><Relationship Type="http://schemas.openxmlformats.org/officeDocument/2006/relationships/notesSlide" Target="/ppt/notesSlides/notesSlide8.xml" Id="Re37a02732a4645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f12d1ba064060" /><Relationship Type="http://schemas.openxmlformats.org/officeDocument/2006/relationships/notesSlide" Target="/ppt/notesSlides/notesSlide9.xml" Id="R17478be0728241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7758b6e754263" /><Relationship Type="http://schemas.openxmlformats.org/officeDocument/2006/relationships/notesSlide" Target="/ppt/notesSlides/notesSlide10.xml" Id="R5f9c10bbed4d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765BA-177A-4636-8B87-22B2D0A4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UVA 796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78044-607F-43B8-8535-6E8CF920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B3440-9C54-4555-8974-7E4F4436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52D3B"/>
                </a:solidFill>
                <a:latin typeface="Arial"/>
                <a:ea typeface="Arial"/>
                <a:cs typeface="Arial"/>
              </a:rPr>
              <a:t>Critical Links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05D0F-D8A4-4FF8-A98F-367A6AB2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6F75"/>
                </a:solidFill>
                <a:latin typeface="Arial"/>
                <a:ea typeface="Arial"/>
                <a:cs typeface="Arial"/>
              </a:rPr>
              <a:t>Implementação final e 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E1B21-706B-4EAE-B371-2DE6A36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Pedro Pinheiro Barros Leal</a:t>
            </a:r>
          </a:p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Emmanuel Rosendo Parente Dias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FF03E-00F3-4130-99FE-0ADD117B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Resolução de Problemas com Grafos</a:t>
            </a:r>
          </a:p>
        </p:txBody>
      </p:sp>
    </p:spTree>
    <p:extLst>
      <p:ext uri="{BB962C8B-B14F-4D97-AF65-F5344CB8AC3E}">
        <p14:creationId xmlns:p14="http://schemas.microsoft.com/office/powerpoint/2010/main" val="1375607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3C748-9363-4DB9-86D1-03975193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Modelagem e pontes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1DCDD-82EB-4BE9-97D7-1C5299C4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07A14-5A4F-4666-AAEC-0E8723C7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3476625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    0</a:t>
            </a:r>
          </a:p>
          <a:p xmlns:a="http://schemas.openxmlformats.org/drawingml/2006/main">
            <a:pPr>
              <a:def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    |</a:t>
            </a:r>
          </a:p>
          <a:p xmlns:a="http://schemas.openxmlformats.org/drawingml/2006/main">
            <a:pPr>
              <a:def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    1</a:t>
            </a:r>
          </a:p>
          <a:p xmlns:a="http://schemas.openxmlformats.org/drawingml/2006/main">
            <a:pPr>
              <a:def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    |</a:t>
            </a:r>
          </a:p>
          <a:p xmlns:a="http://schemas.openxmlformats.org/drawingml/2006/main">
            <a:pPr>
              <a:def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    3</a:t>
            </a:r>
          </a:p>
          <a:p xmlns:a="http://schemas.openxmlformats.org/drawingml/2006/main">
            <a:pPr>
              <a:def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   / \</a:t>
            </a:r>
          </a:p>
          <a:p xmlns:a="http://schemas.openxmlformats.org/drawingml/2006/main">
            <a:pPr>
              <a:def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  2---4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23595-7E03-4F53-A4C5-CB3C27ED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Servidores: vértices</a:t>
            </a:r>
          </a:p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Conexões: arestas bidirecionais</a:t>
            </a:r>
          </a:p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Representação: lista de adjacência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31666-FFCF-4E82-8539-892C5B41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623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Uma ponte aumenta o número de</a:t>
            </a:r>
          </a:p>
          <a:p xmlns:a="http://schemas.openxmlformats.org/drawingml/2006/main">
            <a:pPr>
              <a:defRPr sz="2400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componentes quando removida.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9E184-0743-40A4-A22C-EA5FE1B6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Pontes: (0,1) e (1,3)</a:t>
            </a:r>
          </a:p>
          <a:p xmlns:a="http://schemas.openxmlformats.org/drawingml/2006/main">
            <a:pPr>
              <a:defRPr sz="210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O triângulo mantém caminhos alternativos.</a:t>
            </a:r>
          </a:p>
        </p:txBody>
      </p:sp>
    </p:spTree>
    <p:extLst>
      <p:ext uri="{BB962C8B-B14F-4D97-AF65-F5344CB8AC3E}">
        <p14:creationId xmlns:p14="http://schemas.microsoft.com/office/powerpoint/2010/main" val="1220216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A6245-5798-46C8-8E1E-C796DB8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Referências da disciplina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9CECF-C5B0-4FAD-ADAF-E85DC4F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77390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Referência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Adaptação em Main.java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Graph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Graph: listas com vizinho e identidade da aresta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DepthFirstPaths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BridgeFinder: marcação, pais e exploração DFS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Laço que inicia DFS em cada componente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05340-9BA5-41B6-9788-3C0C4A22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Java, com recursos da biblioteca padrão.</a:t>
            </a:r>
          </a:p>
          <a:p xmlns:a="http://schemas.openxmlformats.org/drawingml/2006/main">
            <a:pPr>
              <a:defRPr sz="217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Nenhuma biblioteca externa ou função pronta de pontes.</a:t>
            </a:r>
          </a:p>
        </p:txBody>
      </p:sp>
    </p:spTree>
    <p:extLst>
      <p:ext uri="{BB962C8B-B14F-4D97-AF65-F5344CB8AC3E}">
        <p14:creationId xmlns:p14="http://schemas.microsoft.com/office/powerpoint/2010/main" val="1838872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3F0E4-7136-4D9F-AAB2-E59A214D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DFS com pilha explícita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85C67-142C-451D-9D98-5FB7899F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FC5E4-AC12-4A2A-9786-5BA34DA4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O planejamento previa recursão.</a:t>
            </a:r>
          </a:p>
          <a:p xmlns:a="http://schemas.openxmlformats.org/drawingml/2006/main">
            <a:pPr>
              <a:defRPr sz="225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A versão final armazena as chamadas em um vetor.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847975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5753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Estrutura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Papel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marked, parent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Visitas e pais da árvore DFS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disc, 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Descoberta e menor descoberta alcançável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stack, nextNeighbor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Caminho ativo e próximo vizinho a explorar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parentEdge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Ignorar somente a aresta de chegada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433BC-B510-4EDC-9E15-65381B99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Ao esgotar os vizinhos, retirar v da pilha simula o retorno.</a:t>
            </a:r>
          </a:p>
        </p:txBody>
      </p:sp>
    </p:spTree>
    <p:extLst>
      <p:ext uri="{BB962C8B-B14F-4D97-AF65-F5344CB8AC3E}">
        <p14:creationId xmlns:p14="http://schemas.microsoft.com/office/powerpoint/2010/main" val="1314879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04564-B30A-4DB1-97F6-DA446AD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Critério estrutural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C497E-2023-430C-B6A8-20C9B796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589B5-42CC-439B-AE63-295EEB9B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006F75"/>
                </a:solidFill>
                <a:latin typeface="Courier New"/>
                <a:ea typeface="Courier New"/>
                <a:cs typeface="Courier New"/>
              </a:defRPr>
            </a:pPr>
            <a:r>
              <a:rPr sz="4275" b="1">
                <a:solidFill>
                  <a:srgbClr val="006F75"/>
                </a:solidFill>
                <a:latin typeface="Courier New"/>
                <a:ea typeface="Courier New"/>
                <a:cs typeface="Courier New"/>
              </a:rPr>
              <a:t>low[filho] &gt; disc[pai]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71FB-FC97-46FA-A0D7-B1523E8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53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A subárvore do filho não alcança o pai nem seus</a:t>
            </a:r>
          </a:p>
          <a:p xmlns:a="http://schemas.openxmlformats.org/drawingml/2006/main">
            <a:pPr>
              <a:defRPr sz="255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ancestrais por uma aresta de retorno.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3C5B4-243A-40C5-9D24-7E214144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No retorno: low[pai] = min(low[pai], low[filho])</a:t>
            </a:r>
          </a:p>
          <a:p xmlns:a="http://schemas.openxmlformats.org/drawingml/2006/main">
            <a:pPr>
              <a:defRPr sz="210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Vizinho marcado: low[v] = min(low[v], disc[w])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A341-141E-430D-94C9-DE797AA5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D38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3835"/>
                </a:solidFill>
                <a:latin typeface="Arial"/>
                <a:ea typeface="Arial"/>
                <a:cs typeface="Arial"/>
              </a:rPr>
              <a:t>A igualdade indica um caminho alternativo. A aresta não é ponte.</a:t>
            </a:r>
          </a:p>
        </p:txBody>
      </p:sp>
    </p:spTree>
    <p:extLst>
      <p:ext uri="{BB962C8B-B14F-4D97-AF65-F5344CB8AC3E}">
        <p14:creationId xmlns:p14="http://schemas.microsoft.com/office/powerpoint/2010/main" val="1831056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24D52-8EF6-44C9-8533-E3C2E89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Rastreamento do grafo do grupo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17FB1-1200-4A79-9B08-87C5552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73456-3EA8-4F89-80A7-4C1ACF9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Ordem de descoberta: 0, 1, 3, 2, 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51435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190625"/>
                <a:gridCol w="1285875"/>
                <a:gridCol w="1571625"/>
              </a:tblGrid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pai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disc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low final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33138-B56E-4546-BE50-679BD98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28875"/>
            <a:ext cx="51149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Aresta 4–3: low[4] = 2</a:t>
            </a:r>
          </a:p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Retorno para 2: low[2] =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FC8C0-5ABE-4678-B73F-1001C5EA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5114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(2,4): 2 &gt; 3 é falso</a:t>
            </a:r>
          </a:p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(3,2): 2 &gt; 2 é falso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A4112-73DB-4CAB-A512-07C56C05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67275"/>
            <a:ext cx="51149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D38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D3835"/>
                </a:solidFill>
                <a:latin typeface="Arial"/>
                <a:ea typeface="Arial"/>
                <a:cs typeface="Arial"/>
              </a:rPr>
              <a:t>(1,3): 2 &gt; 1 é verdadeiro</a:t>
            </a:r>
          </a:p>
          <a:p xmlns:a="http://schemas.openxmlformats.org/drawingml/2006/main">
            <a:pPr>
              <a:defRPr sz="2100" b="1">
                <a:solidFill>
                  <a:srgbClr val="AD38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D3835"/>
                </a:solidFill>
                <a:latin typeface="Arial"/>
                <a:ea typeface="Arial"/>
                <a:cs typeface="Arial"/>
              </a:rPr>
              <a:t>(0,1): 1 &gt; 0 é verdadeiro</a:t>
            </a:r>
          </a:p>
        </p:txBody>
      </p:sp>
    </p:spTree>
    <p:extLst>
      <p:ext uri="{BB962C8B-B14F-4D97-AF65-F5344CB8AC3E}">
        <p14:creationId xmlns:p14="http://schemas.microsoft.com/office/powerpoint/2010/main" val="2067391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B992F-2771-40D1-B8EA-CB58852B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Entrada, saída e adaptações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9E509-4763-4744-BC45-375E580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8E2D4-3D15-4BD8-BFB6-531BE13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061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Leitura até EOF, incluindo redes com n = 0.</a:t>
            </a:r>
          </a:p>
          <a:p xmlns:a="http://schemas.openxmlformats.org/drawingml/2006/main">
            <a:pPr>
              <a:defRPr sz="232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As linhas podem aparecer fora de ordem.</a:t>
            </a:r>
          </a:p>
          <a:p xmlns:a="http://schemas.openxmlformats.org/drawingml/2006/main">
            <a:pPr>
              <a:defRPr sz="232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Adicionar uma conexão apenas quando u &lt; 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3DE80-0E7E-4C3E-A844-9D6D36A4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Cada caso reinicia os vetores e o contador.</a:t>
            </a:r>
          </a:p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Ordenar os pares pelo primeiro e depois pelo segundo extremo.</a:t>
            </a:r>
          </a:p>
          <a:p xmlns:a="http://schemas.openxmlformats.org/drawingml/2006/main">
            <a:pPr>
              <a:defRPr sz="2175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Imprimir uma linha em branco após cada caso.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5EE3B-ADB7-42DE-88B1-4F13CF14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A identidade da aresta evita confundir uma conexão</a:t>
            </a:r>
          </a:p>
          <a:p xmlns:a="http://schemas.openxmlformats.org/drawingml/2006/main">
            <a:pPr>
              <a:defRPr sz="20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paralela com a própria aresta-pai.</a:t>
            </a:r>
          </a:p>
        </p:txBody>
      </p:sp>
    </p:spTree>
    <p:extLst>
      <p:ext uri="{BB962C8B-B14F-4D97-AF65-F5344CB8AC3E}">
        <p14:creationId xmlns:p14="http://schemas.microsoft.com/office/powerpoint/2010/main" val="1885188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6F0CA-755F-4552-B089-F28FEBE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Validação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06334-B79D-4B69-9C68-0061083C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353050"/>
              </a:tblGrid>
              <a:tr h="65341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Verificação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6 redes do grupo e 2 da amostra oficial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Saída exata, incluindo linhas em branco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1.100 grafos pequenos e 300 aleatórios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Concordância com remoção de arestas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Entrada vazia e arestas paralelas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Resultados esperados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Caminho com 100.000 vértices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99.999 pontes, sem recursão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AED52-1E37-431D-91BB-700C853B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D38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D3835"/>
                </a:solidFill>
                <a:latin typeface="Arial"/>
                <a:ea typeface="Arial"/>
                <a:cs typeface="Arial"/>
              </a:rPr>
              <a:t>Testes locais passaram.</a:t>
            </a:r>
          </a:p>
          <a:p xmlns:a="http://schemas.openxmlformats.org/drawingml/2006/main">
            <a:pPr>
              <a:defRPr sz="2175" b="1">
                <a:solidFill>
                  <a:srgbClr val="AD38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D3835"/>
                </a:solidFill>
                <a:latin typeface="Arial"/>
                <a:ea typeface="Arial"/>
                <a:cs typeface="Arial"/>
              </a:rPr>
              <a:t>Submissão e evidência de Accepted continuam pendentes.</a:t>
            </a:r>
          </a:p>
        </p:txBody>
      </p:sp>
    </p:spTree>
    <p:extLst>
      <p:ext uri="{BB962C8B-B14F-4D97-AF65-F5344CB8AC3E}">
        <p14:creationId xmlns:p14="http://schemas.microsoft.com/office/powerpoint/2010/main" val="1609443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F967B-7877-4264-A94E-48A716F3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Complexidade e execução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74F7B-7425-477A-BAF0-42D620D8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686300"/>
              </a:tblGrid>
              <a:tr h="58340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Custo</a:t>
                      </a:r>
                    </a:p>
                  </a:txBody>
                  <a:tcPr marL="91440" marR="91440" marT="45720" marB="45720">
                    <a:solidFill>
                      <a:srgbClr val="E3F0E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DFS e construção do grafo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O(V + 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Ordenação das B pontes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O(B log B)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Memória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52D3B"/>
                          </a:solidFill>
                          <a:latin typeface="Arial"/>
                          <a:ea typeface="Arial"/>
                          <a:cs typeface="Arial"/>
                        </a:rPr>
                        <a:t>O(V + 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F0DBB-54DD-44A2-9776-CDE7DFFE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A partir da pasta T2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88F7D-78C3-4BE0-9513-01B8CEFB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53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javac -encoding UTF-8 -d build src/Main.java</a:t>
            </a:r>
          </a:p>
          <a:p xmlns:a="http://schemas.openxmlformats.org/drawingml/2006/main">
            <a:pPr>
              <a:defRPr sz="1950" b="0">
                <a:solidFill>
                  <a:srgbClr val="152D3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52D3B"/>
                </a:solidFill>
                <a:latin typeface="Courier New"/>
                <a:ea typeface="Courier New"/>
                <a:cs typeface="Courier New"/>
              </a:rPr>
              <a:t>java -cp build Main &lt; dados/entrada.txt</a:t>
            </a:r>
          </a:p>
        </p:txBody>
      </p:sp>
    </p:spTree>
    <p:extLst>
      <p:ext uri="{BB962C8B-B14F-4D97-AF65-F5344CB8AC3E}">
        <p14:creationId xmlns:p14="http://schemas.microsoft.com/office/powerpoint/2010/main" val="810301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50B16-B6F3-4C7A-B396-F8813D4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Conclusão e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63410-69AC-4B4E-9041-79ADAF8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A2E93-359B-49EA-BCBC-296E69B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A DFS identifica as pontes sem repetir uma busca</a:t>
            </a:r>
          </a:p>
          <a:p xmlns:a="http://schemas.openxmlformats.org/drawingml/2006/main">
            <a:pPr>
              <a:defRPr sz="2700" b="1">
                <a:solidFill>
                  <a:srgbClr val="006F7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6F75"/>
                </a:solidFill>
                <a:latin typeface="Arial"/>
                <a:ea typeface="Arial"/>
                <a:cs typeface="Arial"/>
              </a:rPr>
              <a:t>para cada aresta removida.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5B88C-A81F-4AA6-B34D-0619E44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Solução: src/Main.java</a:t>
            </a:r>
          </a:p>
          <a:p xmlns:a="http://schemas.openxmlformats.org/drawingml/2006/main">
            <a:pPr>
              <a:defRPr sz="225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Adaptações: acompanhamento/marco-4.md</a:t>
            </a:r>
          </a:p>
          <a:p xmlns:a="http://schemas.openxmlformats.org/drawingml/2006/main">
            <a:pPr>
              <a:defRPr sz="2250" b="0">
                <a:solidFill>
                  <a:srgbClr val="15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3B"/>
                </a:solidFill>
                <a:latin typeface="Arial"/>
                <a:ea typeface="Arial"/>
                <a:cs typeface="Arial"/>
              </a:rPr>
              <a:t>Testes reproduzíveis: testes/validar.py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135F8-F3C6-4DA4-B09A-F82A20C5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D38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D3835"/>
                </a:solidFill>
                <a:latin typeface="Arial"/>
                <a:ea typeface="Arial"/>
                <a:cs typeface="Arial"/>
              </a:rPr>
              <a:t>Próxima etapa: revisão pelo grupo e submissão ao UVA.</a:t>
            </a:r>
          </a:p>
          <a:p xmlns:a="http://schemas.openxmlformats.org/drawingml/2006/main">
            <a:pPr>
              <a:defRPr sz="2175" b="1">
                <a:solidFill>
                  <a:srgbClr val="AD38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D3835"/>
                </a:solidFill>
                <a:latin typeface="Arial"/>
                <a:ea typeface="Arial"/>
                <a:cs typeface="Arial"/>
              </a:rPr>
              <a:t>Adicionar a evidência somente após um Accepted real.</a:t>
            </a:r>
          </a:p>
        </p:txBody>
      </p:sp>
    </p:spTree>
    <p:extLst>
      <p:ext uri="{BB962C8B-B14F-4D97-AF65-F5344CB8AC3E}">
        <p14:creationId xmlns:p14="http://schemas.microsoft.com/office/powerpoint/2010/main" val="863343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2026-10-07T23:44:46.5950000Z</dcterms:created>
  <dcterms:modified xsi:type="dcterms:W3CDTF">2026-10-07T23:44:46.5950000Z</dcterms:modified>
</coreProperties>
</file>